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5143500" cx="9144000"/>
  <p:notesSz cx="5143500" cy="9144000"/>
  <p:embeddedFontLst>
    <p:embeddedFont>
      <p:font typeface="Ramabhadra"/>
      <p:regular r:id="rId12"/>
    </p:embeddedFont>
    <p:embeddedFont>
      <p:font typeface="Work Sans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WorkSans-regular.fntdata"/><Relationship Id="rId12" Type="http://schemas.openxmlformats.org/officeDocument/2006/relationships/font" Target="fonts/Ramabhadr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WorkSans-italic.fntdata"/><Relationship Id="rId14" Type="http://schemas.openxmlformats.org/officeDocument/2006/relationships/font" Target="fonts/WorkSans-bold.fntdata"/><Relationship Id="rId16" Type="http://schemas.openxmlformats.org/officeDocument/2006/relationships/font" Target="fonts/WorkSans-bold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" name="Google Shape;29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d8b550cf1d_0_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" name="Google Shape;51;g3d8b550cf1d_0_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g3d8b550cf1d_0_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100">
                <a:latin typeface="Arial"/>
                <a:ea typeface="Arial"/>
                <a:cs typeface="Arial"/>
                <a:sym typeface="Arial"/>
              </a:rPr>
              <a:t>We saw a few key UI failures during development.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100">
                <a:latin typeface="Arial"/>
                <a:ea typeface="Arial"/>
                <a:cs typeface="Arial"/>
                <a:sym typeface="Arial"/>
              </a:rPr>
              <a:t>The biggest issue was that the </a:t>
            </a:r>
            <a:r>
              <a:rPr b="1" lang="en-US" sz="1100">
                <a:latin typeface="Arial"/>
                <a:ea typeface="Arial"/>
                <a:cs typeface="Arial"/>
                <a:sym typeface="Arial"/>
              </a:rPr>
              <a:t>spin animation worked once, then stopped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, even though game logic still ran correctly. We also had </a:t>
            </a:r>
            <a:r>
              <a:rPr b="1" lang="en-US" sz="1100">
                <a:latin typeface="Arial"/>
                <a:ea typeface="Arial"/>
                <a:cs typeface="Arial"/>
                <a:sym typeface="Arial"/>
              </a:rPr>
              <a:t>reel alignment issues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, where the final grid didn’t settle cleanly. Some UI controls like dropdowns also broke and couldn’t be closed, and early versions even collapsed the layout into a single row with incorrect balance behavior.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100">
                <a:latin typeface="Arial"/>
                <a:ea typeface="Arial"/>
                <a:cs typeface="Arial"/>
                <a:sym typeface="Arial"/>
              </a:rPr>
              <a:t>What surprised us was that </a:t>
            </a:r>
            <a:r>
              <a:rPr b="1" lang="en-US" sz="1100">
                <a:latin typeface="Arial"/>
                <a:ea typeface="Arial"/>
                <a:cs typeface="Arial"/>
                <a:sym typeface="Arial"/>
              </a:rPr>
              <a:t>the logic often worked while the UI looked broken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, which made debugging harder. We also learned that </a:t>
            </a:r>
            <a:r>
              <a:rPr b="1" lang="en-US" sz="1100">
                <a:latin typeface="Arial"/>
                <a:ea typeface="Arial"/>
                <a:cs typeface="Arial"/>
                <a:sym typeface="Arial"/>
              </a:rPr>
              <a:t>AI needed very precise prompts to maintain consistent UI behavior and theme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100">
                <a:latin typeface="Arial"/>
                <a:ea typeface="Arial"/>
                <a:cs typeface="Arial"/>
                <a:sym typeface="Arial"/>
              </a:rPr>
              <a:t>Overall, we learned that small visual issues can strongly affect how “correct” the game feels.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F24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CSE 110  ·  TECH WARMUP II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548640" y="1005840"/>
            <a:ext cx="80467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4000"/>
              <a:buFont typeface="Calibri"/>
              <a:buNone/>
            </a:pPr>
            <a:r>
              <a:rPr b="1" i="0" lang="en-US" sz="4000" u="none" cap="none" strike="noStrike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Generative AI as an Engineering Tool?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548640" y="2286000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C0CC"/>
              </a:buClr>
              <a:buSzPts val="1600"/>
              <a:buFont typeface="Calibri"/>
              <a:buNone/>
            </a:pPr>
            <a:r>
              <a:rPr b="0" i="1" lang="en-US" sz="1600" u="none" cap="none" strike="noStrike">
                <a:solidFill>
                  <a:srgbClr val="B8C0CC"/>
                </a:solidFill>
                <a:latin typeface="Calibri"/>
                <a:ea typeface="Calibri"/>
                <a:cs typeface="Calibri"/>
                <a:sym typeface="Calibri"/>
              </a:rPr>
              <a:t>An experiment in rebuilding the slot machine under software-engineering discipline.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20;p3"/>
          <p:cNvCxnSpPr/>
          <p:nvPr/>
        </p:nvCxnSpPr>
        <p:spPr>
          <a:xfrm>
            <a:off x="548640" y="2880360"/>
            <a:ext cx="2743200" cy="0"/>
          </a:xfrm>
          <a:prstGeom prst="straightConnector1">
            <a:avLst/>
          </a:prstGeom>
          <a:noFill/>
          <a:ln cap="flat" cmpd="sng" w="1905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" name="Google Shape;21;p3"/>
          <p:cNvSpPr/>
          <p:nvPr/>
        </p:nvSpPr>
        <p:spPr>
          <a:xfrm>
            <a:off x="548640" y="30632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TEAM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548640" y="333756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Team</a:t>
            </a:r>
            <a:r>
              <a:rPr b="1" i="0" lang="en-US" sz="1800" u="none" cap="none" strike="noStrike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 16 — </a:t>
            </a:r>
            <a:r>
              <a:rPr b="1" lang="en-US" sz="18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Cutie Devs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4754880" y="30632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ROSTER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4754875" y="3237825"/>
            <a:ext cx="11886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6F7F9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Angelo Sespene</a:t>
            </a:r>
            <a:endParaRPr sz="1200">
              <a:solidFill>
                <a:srgbClr val="F6F7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6F7F9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Yuval Pesok</a:t>
            </a:r>
            <a:endParaRPr sz="1200">
              <a:solidFill>
                <a:srgbClr val="F6F7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6F7F9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Jordan Junaidi</a:t>
            </a:r>
            <a:endParaRPr sz="1200">
              <a:solidFill>
                <a:srgbClr val="F6F7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6F7F9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Jennifer Zhu</a:t>
            </a:r>
            <a:endParaRPr sz="1200">
              <a:solidFill>
                <a:srgbClr val="F6F7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6F7F9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Fariba Tokhi</a:t>
            </a:r>
            <a:endParaRPr sz="1200">
              <a:solidFill>
                <a:srgbClr val="F6F7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6F7F9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Koji Nakazawa</a:t>
            </a:r>
            <a:endParaRPr sz="1200">
              <a:solidFill>
                <a:srgbClr val="F6F7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6F7F9"/>
              </a:buClr>
              <a:buSzPts val="1200"/>
              <a:buFont typeface="Calibri"/>
              <a:buNone/>
            </a:pPr>
            <a:r>
              <a:t/>
            </a:r>
            <a:endParaRPr sz="1200">
              <a:solidFill>
                <a:srgbClr val="F6F7F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8046720" y="477774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01 / 06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5983325" y="3337550"/>
            <a:ext cx="1579500" cy="12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Alec Lichtenberger</a:t>
            </a:r>
            <a:endParaRPr sz="1200">
              <a:solidFill>
                <a:srgbClr val="F6F7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Harvey Zhang</a:t>
            </a:r>
            <a:endParaRPr sz="1200">
              <a:solidFill>
                <a:srgbClr val="F6F7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Roy Martinez</a:t>
            </a:r>
            <a:endParaRPr sz="1200">
              <a:solidFill>
                <a:srgbClr val="F6F7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F6F7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F6F7F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01  ·  THE EXPERIMENT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24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A1F24"/>
                </a:solidFill>
                <a:latin typeface="Calibri"/>
                <a:ea typeface="Calibri"/>
                <a:cs typeface="Calibri"/>
                <a:sym typeface="Calibri"/>
              </a:rPr>
              <a:t>What we set out to build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457200" y="1600200"/>
            <a:ext cx="2697480" cy="2651760"/>
          </a:xfrm>
          <a:prstGeom prst="rect">
            <a:avLst/>
          </a:prstGeom>
          <a:solidFill>
            <a:srgbClr val="F4F5F7"/>
          </a:solidFill>
          <a:ln cap="flat" cmpd="sng" w="9525">
            <a:solidFill>
              <a:srgbClr val="E1E4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457200" y="1600200"/>
            <a:ext cx="73152" cy="265176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685800" y="178308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PROBLEM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685800" y="2148840"/>
            <a:ext cx="2331720" cy="1965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A browser-based slot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36454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machine, rebuilt to meet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36454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SWE discipline: linting,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36454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JSDoc, unit + E2E tests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3291840" y="1600200"/>
            <a:ext cx="2697480" cy="2651760"/>
          </a:xfrm>
          <a:prstGeom prst="rect">
            <a:avLst/>
          </a:prstGeom>
          <a:solidFill>
            <a:srgbClr val="F4F5F7"/>
          </a:solidFill>
          <a:ln cap="flat" cmpd="sng" w="9525">
            <a:solidFill>
              <a:srgbClr val="E1E4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3291840" y="1600200"/>
            <a:ext cx="73152" cy="265176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3520440" y="178308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3520440" y="2148840"/>
            <a:ext cx="2331720" cy="1965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20+ d</a:t>
            </a:r>
            <a:r>
              <a:rPr b="0" i="0" lang="en-US" sz="1300" u="none" cap="none" strike="noStrike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omain sources used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36454F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10 </a:t>
            </a:r>
            <a:r>
              <a:rPr b="0" i="0" lang="en-US" sz="1300" u="none" cap="none" strike="noStrike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research docs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36454F"/>
              </a:buClr>
              <a:buSzPts val="1300"/>
              <a:buFont typeface="Calibri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6126480" y="1600200"/>
            <a:ext cx="2697480" cy="2651760"/>
          </a:xfrm>
          <a:prstGeom prst="rect">
            <a:avLst/>
          </a:prstGeom>
          <a:solidFill>
            <a:srgbClr val="F4F5F7"/>
          </a:solidFill>
          <a:ln cap="flat" cmpd="sng" w="9525">
            <a:solidFill>
              <a:srgbClr val="E1E4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6126480" y="1600200"/>
            <a:ext cx="73152" cy="265176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6355080" y="178308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USERS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6355080" y="2148840"/>
            <a:ext cx="2331720" cy="1965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3 persona documents</a:t>
            </a:r>
            <a:endParaRPr b="1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36454F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The casual thrill-seeker, the themed-experience player, the social sharer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36454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5 user stories</a:t>
            </a:r>
            <a:endParaRPr b="1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36454F"/>
              </a:buClr>
              <a:buSzPts val="1300"/>
              <a:buFont typeface="Calibri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" name="Google Shape;46;p4"/>
          <p:cNvCxnSpPr/>
          <p:nvPr/>
        </p:nvCxnSpPr>
        <p:spPr>
          <a:xfrm>
            <a:off x="457200" y="473202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1E4E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" name="Google Shape;47;p4"/>
          <p:cNvSpPr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8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SCOPE  ·  RESEARCH  ·  USER-CENTERED THINKING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8046720" y="477774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8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02 / 0</a:t>
            </a:r>
            <a:r>
              <a:rPr lang="en-US" sz="900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"/>
          <p:cNvSpPr/>
          <p:nvPr/>
        </p:nvSpPr>
        <p:spPr>
          <a:xfrm>
            <a:off x="457200" y="320040"/>
            <a:ext cx="822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10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  ·  THE </a:t>
            </a:r>
            <a:r>
              <a:rPr b="1" lang="en-US" sz="110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457200" y="544180"/>
            <a:ext cx="8229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24"/>
              </a:buClr>
              <a:buSzPts val="3000"/>
              <a:buFont typeface="Calibri"/>
              <a:buNone/>
            </a:pPr>
            <a:r>
              <a:rPr b="1" lang="en-US" sz="3000">
                <a:solidFill>
                  <a:srgbClr val="1A1F24"/>
                </a:solidFill>
                <a:latin typeface="Calibri"/>
                <a:ea typeface="Calibri"/>
                <a:cs typeface="Calibri"/>
                <a:sym typeface="Calibri"/>
              </a:rPr>
              <a:t>What we Researched First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6" name="Google Shape;56;p5"/>
          <p:cNvCxnSpPr/>
          <p:nvPr/>
        </p:nvCxnSpPr>
        <p:spPr>
          <a:xfrm>
            <a:off x="457200" y="4744452"/>
            <a:ext cx="7857000" cy="0"/>
          </a:xfrm>
          <a:prstGeom prst="straightConnector1">
            <a:avLst/>
          </a:prstGeom>
          <a:noFill/>
          <a:ln cap="flat" cmpd="sng" w="9100">
            <a:solidFill>
              <a:srgbClr val="E1E4E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5"/>
          <p:cNvSpPr/>
          <p:nvPr/>
        </p:nvSpPr>
        <p:spPr>
          <a:xfrm>
            <a:off x="457200" y="4788102"/>
            <a:ext cx="5238000" cy="21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83"/>
              </a:buClr>
              <a:buSzPts val="859"/>
              <a:buFont typeface="Calibri"/>
              <a:buNone/>
            </a:pPr>
            <a:r>
              <a:rPr b="0" i="0" lang="en-US" sz="859" u="none" cap="none" strike="noStrike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SCOPE  ·  RESEARCH  ·  USER-CENTERED THINKING</a:t>
            </a:r>
            <a:endParaRPr b="0" i="0" sz="85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7703119" y="4788102"/>
            <a:ext cx="785400" cy="21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683"/>
              </a:buClr>
              <a:buSzPts val="859"/>
              <a:buFont typeface="Calibri"/>
              <a:buNone/>
            </a:pPr>
            <a:r>
              <a:rPr lang="en-US" sz="859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r>
              <a:rPr b="0" i="0" lang="en-US" sz="859" u="none" cap="none" strike="noStrike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 / 0</a:t>
            </a:r>
            <a:r>
              <a:rPr lang="en-US" sz="859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85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 txBox="1"/>
          <p:nvPr/>
        </p:nvSpPr>
        <p:spPr>
          <a:xfrm>
            <a:off x="1047874" y="1299905"/>
            <a:ext cx="2610600" cy="44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000000"/>
                </a:solidFill>
                <a:latin typeface="Ramabhadra"/>
                <a:ea typeface="Ramabhadra"/>
                <a:cs typeface="Ramabhadra"/>
                <a:sym typeface="Ramabhadra"/>
              </a:rPr>
              <a:t>Slot Machine Mechanics</a:t>
            </a:r>
            <a:endParaRPr sz="1275">
              <a:solidFill>
                <a:srgbClr val="000000"/>
              </a:solidFill>
              <a:latin typeface="Ramabhadra"/>
              <a:ea typeface="Ramabhadra"/>
              <a:cs typeface="Ramabhadra"/>
              <a:sym typeface="Ramabhadr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93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How slot machines work: RNGs, paylines, RTP, volatility</a:t>
            </a:r>
            <a:endParaRPr sz="1093">
              <a:solidFill>
                <a:srgbClr val="0000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0" name="Google Shape;60;p5"/>
          <p:cNvSpPr txBox="1"/>
          <p:nvPr/>
        </p:nvSpPr>
        <p:spPr>
          <a:xfrm>
            <a:off x="559700" y="1280101"/>
            <a:ext cx="488100" cy="4812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77">
                <a:solidFill>
                  <a:srgbClr val="0F766E"/>
                </a:solidFill>
                <a:latin typeface="Ramabhadra"/>
                <a:ea typeface="Ramabhadra"/>
                <a:cs typeface="Ramabhadra"/>
                <a:sym typeface="Ramabhadra"/>
              </a:rPr>
              <a:t>1</a:t>
            </a:r>
            <a:endParaRPr b="1" sz="2277">
              <a:solidFill>
                <a:srgbClr val="0F766E"/>
              </a:solidFill>
              <a:latin typeface="Ramabhadra"/>
              <a:ea typeface="Ramabhadra"/>
              <a:cs typeface="Ramabhadra"/>
              <a:sym typeface="Ramabhadra"/>
            </a:endParaRPr>
          </a:p>
        </p:txBody>
      </p:sp>
      <p:sp>
        <p:nvSpPr>
          <p:cNvPr id="61" name="Google Shape;61;p5"/>
          <p:cNvSpPr txBox="1"/>
          <p:nvPr/>
        </p:nvSpPr>
        <p:spPr>
          <a:xfrm>
            <a:off x="1047874" y="1981200"/>
            <a:ext cx="2518200" cy="44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000000"/>
                </a:solidFill>
                <a:latin typeface="Ramabhadra"/>
                <a:ea typeface="Ramabhadra"/>
                <a:cs typeface="Ramabhadra"/>
                <a:sym typeface="Ramabhadra"/>
              </a:rPr>
              <a:t>Visual Themes</a:t>
            </a:r>
            <a:endParaRPr sz="1275">
              <a:solidFill>
                <a:srgbClr val="000000"/>
              </a:solidFill>
              <a:latin typeface="Ramabhadra"/>
              <a:ea typeface="Ramabhadra"/>
              <a:cs typeface="Ramabhadra"/>
              <a:sym typeface="Ramabhadr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93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Why visual design matters: central reels, symbols, large controls</a:t>
            </a:r>
            <a:endParaRPr sz="1093">
              <a:solidFill>
                <a:srgbClr val="0000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2" name="Google Shape;62;p5"/>
          <p:cNvSpPr txBox="1"/>
          <p:nvPr/>
        </p:nvSpPr>
        <p:spPr>
          <a:xfrm>
            <a:off x="559700" y="1961394"/>
            <a:ext cx="488100" cy="4812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77">
                <a:solidFill>
                  <a:srgbClr val="0F766E"/>
                </a:solidFill>
                <a:latin typeface="Ramabhadra"/>
                <a:ea typeface="Ramabhadra"/>
                <a:cs typeface="Ramabhadra"/>
                <a:sym typeface="Ramabhadra"/>
              </a:rPr>
              <a:t>2</a:t>
            </a:r>
            <a:endParaRPr b="1" sz="2277">
              <a:solidFill>
                <a:srgbClr val="0F766E"/>
              </a:solidFill>
              <a:latin typeface="Ramabhadra"/>
              <a:ea typeface="Ramabhadra"/>
              <a:cs typeface="Ramabhadra"/>
              <a:sym typeface="Ramabhadra"/>
            </a:endParaRPr>
          </a:p>
        </p:txBody>
      </p:sp>
      <p:sp>
        <p:nvSpPr>
          <p:cNvPr id="63" name="Google Shape;63;p5"/>
          <p:cNvSpPr txBox="1"/>
          <p:nvPr/>
        </p:nvSpPr>
        <p:spPr>
          <a:xfrm>
            <a:off x="1047874" y="2662494"/>
            <a:ext cx="2807700" cy="44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000000"/>
                </a:solidFill>
                <a:latin typeface="Ramabhadra"/>
                <a:ea typeface="Ramabhadra"/>
                <a:cs typeface="Ramabhadra"/>
                <a:sym typeface="Ramabhadra"/>
              </a:rPr>
              <a:t>Sound Design</a:t>
            </a:r>
            <a:endParaRPr sz="1275">
              <a:solidFill>
                <a:srgbClr val="000000"/>
              </a:solidFill>
              <a:latin typeface="Ramabhadra"/>
              <a:ea typeface="Ramabhadra"/>
              <a:cs typeface="Ramabhadra"/>
              <a:sym typeface="Ramabhadr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93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How audio influences players: preventing fatigue, audio cues</a:t>
            </a:r>
            <a:endParaRPr sz="1093">
              <a:solidFill>
                <a:srgbClr val="0000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4" name="Google Shape;64;p5"/>
          <p:cNvSpPr txBox="1"/>
          <p:nvPr/>
        </p:nvSpPr>
        <p:spPr>
          <a:xfrm>
            <a:off x="559700" y="2642688"/>
            <a:ext cx="488100" cy="4812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77">
                <a:solidFill>
                  <a:srgbClr val="0F766E"/>
                </a:solidFill>
                <a:latin typeface="Ramabhadra"/>
                <a:ea typeface="Ramabhadra"/>
                <a:cs typeface="Ramabhadra"/>
                <a:sym typeface="Ramabhadra"/>
              </a:rPr>
              <a:t>3</a:t>
            </a:r>
            <a:endParaRPr b="1" sz="2277">
              <a:solidFill>
                <a:srgbClr val="0F766E"/>
              </a:solidFill>
              <a:latin typeface="Ramabhadra"/>
              <a:ea typeface="Ramabhadra"/>
              <a:cs typeface="Ramabhadra"/>
              <a:sym typeface="Ramabhadra"/>
            </a:endParaRPr>
          </a:p>
        </p:txBody>
      </p:sp>
      <p:sp>
        <p:nvSpPr>
          <p:cNvPr id="65" name="Google Shape;65;p5"/>
          <p:cNvSpPr txBox="1"/>
          <p:nvPr/>
        </p:nvSpPr>
        <p:spPr>
          <a:xfrm>
            <a:off x="1047874" y="3343787"/>
            <a:ext cx="2610600" cy="44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000000"/>
                </a:solidFill>
                <a:latin typeface="Ramabhadra"/>
                <a:ea typeface="Ramabhadra"/>
                <a:cs typeface="Ramabhadra"/>
                <a:sym typeface="Ramabhadra"/>
              </a:rPr>
              <a:t>Animation</a:t>
            </a:r>
            <a:endParaRPr sz="1275">
              <a:solidFill>
                <a:srgbClr val="000000"/>
              </a:solidFill>
              <a:latin typeface="Ramabhadra"/>
              <a:ea typeface="Ramabhadra"/>
              <a:cs typeface="Ramabhadra"/>
              <a:sym typeface="Ramabhadr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93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How animations guide players</a:t>
            </a:r>
            <a:endParaRPr sz="1093">
              <a:solidFill>
                <a:srgbClr val="0000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6" name="Google Shape;66;p5"/>
          <p:cNvSpPr txBox="1"/>
          <p:nvPr/>
        </p:nvSpPr>
        <p:spPr>
          <a:xfrm>
            <a:off x="559700" y="3323981"/>
            <a:ext cx="488100" cy="4812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77">
                <a:solidFill>
                  <a:srgbClr val="0F766E"/>
                </a:solidFill>
                <a:latin typeface="Ramabhadra"/>
                <a:ea typeface="Ramabhadra"/>
                <a:cs typeface="Ramabhadra"/>
                <a:sym typeface="Ramabhadra"/>
              </a:rPr>
              <a:t>4</a:t>
            </a:r>
            <a:endParaRPr b="1" sz="2277">
              <a:solidFill>
                <a:srgbClr val="0F766E"/>
              </a:solidFill>
              <a:latin typeface="Ramabhadra"/>
              <a:ea typeface="Ramabhadra"/>
              <a:cs typeface="Ramabhadra"/>
              <a:sym typeface="Ramabhadra"/>
            </a:endParaRPr>
          </a:p>
        </p:txBody>
      </p:sp>
      <p:sp>
        <p:nvSpPr>
          <p:cNvPr id="67" name="Google Shape;67;p5"/>
          <p:cNvSpPr txBox="1"/>
          <p:nvPr/>
        </p:nvSpPr>
        <p:spPr>
          <a:xfrm>
            <a:off x="1047874" y="4005275"/>
            <a:ext cx="3042900" cy="44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000000"/>
                </a:solidFill>
                <a:latin typeface="Ramabhadra"/>
                <a:ea typeface="Ramabhadra"/>
                <a:cs typeface="Ramabhadra"/>
                <a:sym typeface="Ramabhadra"/>
              </a:rPr>
              <a:t>Wireframes and UI</a:t>
            </a:r>
            <a:endParaRPr sz="1275">
              <a:solidFill>
                <a:srgbClr val="000000"/>
              </a:solidFill>
              <a:latin typeface="Ramabhadra"/>
              <a:ea typeface="Ramabhadra"/>
              <a:cs typeface="Ramabhadra"/>
              <a:sym typeface="Ramabhadr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93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How to structure the interface</a:t>
            </a:r>
            <a:endParaRPr sz="1093">
              <a:solidFill>
                <a:srgbClr val="0000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8" name="Google Shape;68;p5"/>
          <p:cNvSpPr txBox="1"/>
          <p:nvPr/>
        </p:nvSpPr>
        <p:spPr>
          <a:xfrm>
            <a:off x="559700" y="4005275"/>
            <a:ext cx="488100" cy="4812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77">
                <a:solidFill>
                  <a:srgbClr val="0F766E"/>
                </a:solidFill>
                <a:latin typeface="Ramabhadra"/>
                <a:ea typeface="Ramabhadra"/>
                <a:cs typeface="Ramabhadra"/>
                <a:sym typeface="Ramabhadra"/>
              </a:rPr>
              <a:t>5</a:t>
            </a:r>
            <a:endParaRPr b="1" sz="2277">
              <a:solidFill>
                <a:srgbClr val="0F766E"/>
              </a:solidFill>
              <a:latin typeface="Ramabhadra"/>
              <a:ea typeface="Ramabhadra"/>
              <a:cs typeface="Ramabhadra"/>
              <a:sym typeface="Ramabhadra"/>
            </a:endParaRPr>
          </a:p>
        </p:txBody>
      </p:sp>
      <p:sp>
        <p:nvSpPr>
          <p:cNvPr id="69" name="Google Shape;69;p5"/>
          <p:cNvSpPr txBox="1"/>
          <p:nvPr/>
        </p:nvSpPr>
        <p:spPr>
          <a:xfrm>
            <a:off x="4877494" y="1299977"/>
            <a:ext cx="2610600" cy="44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000000"/>
                </a:solidFill>
                <a:latin typeface="Ramabhadra"/>
                <a:ea typeface="Ramabhadra"/>
                <a:cs typeface="Ramabhadra"/>
                <a:sym typeface="Ramabhadra"/>
              </a:rPr>
              <a:t>User Persona Research</a:t>
            </a:r>
            <a:endParaRPr sz="1275">
              <a:solidFill>
                <a:srgbClr val="000000"/>
              </a:solidFill>
              <a:latin typeface="Ramabhadra"/>
              <a:ea typeface="Ramabhadra"/>
              <a:cs typeface="Ramabhadra"/>
              <a:sym typeface="Ramabhadr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93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Who plays slot machines?</a:t>
            </a:r>
            <a:endParaRPr sz="1093">
              <a:solidFill>
                <a:srgbClr val="0000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70" name="Google Shape;70;p5"/>
          <p:cNvSpPr txBox="1"/>
          <p:nvPr/>
        </p:nvSpPr>
        <p:spPr>
          <a:xfrm>
            <a:off x="4389320" y="1280172"/>
            <a:ext cx="488100" cy="4812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77">
                <a:solidFill>
                  <a:srgbClr val="0F766E"/>
                </a:solidFill>
                <a:latin typeface="Ramabhadra"/>
                <a:ea typeface="Ramabhadra"/>
                <a:cs typeface="Ramabhadra"/>
                <a:sym typeface="Ramabhadra"/>
              </a:rPr>
              <a:t>6</a:t>
            </a:r>
            <a:endParaRPr b="1" sz="2277">
              <a:solidFill>
                <a:srgbClr val="0F766E"/>
              </a:solidFill>
              <a:latin typeface="Ramabhadra"/>
              <a:ea typeface="Ramabhadra"/>
              <a:cs typeface="Ramabhadra"/>
              <a:sym typeface="Ramabhadra"/>
            </a:endParaRPr>
          </a:p>
        </p:txBody>
      </p:sp>
      <p:sp>
        <p:nvSpPr>
          <p:cNvPr id="71" name="Google Shape;71;p5"/>
          <p:cNvSpPr txBox="1"/>
          <p:nvPr/>
        </p:nvSpPr>
        <p:spPr>
          <a:xfrm>
            <a:off x="4877494" y="2045572"/>
            <a:ext cx="2943300" cy="44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000000"/>
                </a:solidFill>
                <a:latin typeface="Ramabhadra"/>
                <a:ea typeface="Ramabhadra"/>
                <a:cs typeface="Ramabhadra"/>
                <a:sym typeface="Ramabhadra"/>
              </a:rPr>
              <a:t>Accessibility Considerations</a:t>
            </a:r>
            <a:endParaRPr sz="1275">
              <a:solidFill>
                <a:srgbClr val="000000"/>
              </a:solidFill>
              <a:latin typeface="Ramabhadra"/>
              <a:ea typeface="Ramabhadra"/>
              <a:cs typeface="Ramabhadra"/>
              <a:sym typeface="Ramabhadr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93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How to ensure accessibility: reduced motion, clear feedback, high contrast</a:t>
            </a:r>
            <a:endParaRPr sz="1093">
              <a:solidFill>
                <a:srgbClr val="000000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93">
              <a:solidFill>
                <a:srgbClr val="0000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72" name="Google Shape;72;p5"/>
          <p:cNvSpPr txBox="1"/>
          <p:nvPr/>
        </p:nvSpPr>
        <p:spPr>
          <a:xfrm>
            <a:off x="4389320" y="1961466"/>
            <a:ext cx="488100" cy="4812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77">
                <a:solidFill>
                  <a:srgbClr val="0F766E"/>
                </a:solidFill>
                <a:latin typeface="Ramabhadra"/>
                <a:ea typeface="Ramabhadra"/>
                <a:cs typeface="Ramabhadra"/>
                <a:sym typeface="Ramabhadra"/>
              </a:rPr>
              <a:t>7</a:t>
            </a:r>
            <a:endParaRPr b="1" sz="2277">
              <a:solidFill>
                <a:srgbClr val="0F766E"/>
              </a:solidFill>
              <a:latin typeface="Ramabhadra"/>
              <a:ea typeface="Ramabhadra"/>
              <a:cs typeface="Ramabhadra"/>
              <a:sym typeface="Ramabhadra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4877494" y="2662565"/>
            <a:ext cx="3006300" cy="44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000000"/>
                </a:solidFill>
                <a:latin typeface="Ramabhadra"/>
                <a:ea typeface="Ramabhadra"/>
                <a:cs typeface="Ramabhadra"/>
                <a:sym typeface="Ramabhadra"/>
              </a:rPr>
              <a:t>Competitor Analysis</a:t>
            </a:r>
            <a:endParaRPr sz="1275">
              <a:solidFill>
                <a:srgbClr val="000000"/>
              </a:solidFill>
              <a:latin typeface="Ramabhadra"/>
              <a:ea typeface="Ramabhadra"/>
              <a:cs typeface="Ramabhadra"/>
              <a:sym typeface="Ramabhadr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93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How competitors engage players: flashy effects, early wins</a:t>
            </a:r>
            <a:endParaRPr sz="1093">
              <a:solidFill>
                <a:srgbClr val="0000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74" name="Google Shape;74;p5"/>
          <p:cNvSpPr txBox="1"/>
          <p:nvPr/>
        </p:nvSpPr>
        <p:spPr>
          <a:xfrm>
            <a:off x="4389320" y="2642759"/>
            <a:ext cx="488100" cy="4812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77">
                <a:solidFill>
                  <a:srgbClr val="0F766E"/>
                </a:solidFill>
                <a:latin typeface="Ramabhadra"/>
                <a:ea typeface="Ramabhadra"/>
                <a:cs typeface="Ramabhadra"/>
                <a:sym typeface="Ramabhadra"/>
              </a:rPr>
              <a:t>8</a:t>
            </a:r>
            <a:endParaRPr b="1" sz="2277">
              <a:solidFill>
                <a:srgbClr val="0F766E"/>
              </a:solidFill>
              <a:latin typeface="Ramabhadra"/>
              <a:ea typeface="Ramabhadra"/>
              <a:cs typeface="Ramabhadra"/>
              <a:sym typeface="Ramabhadra"/>
            </a:endParaRPr>
          </a:p>
        </p:txBody>
      </p:sp>
      <p:sp>
        <p:nvSpPr>
          <p:cNvPr id="75" name="Google Shape;75;p5"/>
          <p:cNvSpPr txBox="1"/>
          <p:nvPr/>
        </p:nvSpPr>
        <p:spPr>
          <a:xfrm>
            <a:off x="4877494" y="3343859"/>
            <a:ext cx="2943300" cy="44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000000"/>
                </a:solidFill>
                <a:latin typeface="Ramabhadra"/>
                <a:ea typeface="Ramabhadra"/>
                <a:cs typeface="Ramabhadra"/>
                <a:sym typeface="Ramabhadra"/>
              </a:rPr>
              <a:t>Edge Cases &amp; Error States</a:t>
            </a:r>
            <a:endParaRPr sz="1275">
              <a:solidFill>
                <a:srgbClr val="000000"/>
              </a:solidFill>
              <a:latin typeface="Ramabhadra"/>
              <a:ea typeface="Ramabhadra"/>
              <a:cs typeface="Ramabhadra"/>
              <a:sym typeface="Ramabhadr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93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How to ensure system stability</a:t>
            </a:r>
            <a:endParaRPr sz="1093">
              <a:solidFill>
                <a:srgbClr val="0000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4389320" y="3324053"/>
            <a:ext cx="488100" cy="4812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77">
                <a:solidFill>
                  <a:srgbClr val="0F766E"/>
                </a:solidFill>
                <a:latin typeface="Ramabhadra"/>
                <a:ea typeface="Ramabhadra"/>
                <a:cs typeface="Ramabhadra"/>
                <a:sym typeface="Ramabhadra"/>
              </a:rPr>
              <a:t>9</a:t>
            </a:r>
            <a:endParaRPr b="1" sz="2277">
              <a:solidFill>
                <a:srgbClr val="0F766E"/>
              </a:solidFill>
              <a:latin typeface="Ramabhadra"/>
              <a:ea typeface="Ramabhadra"/>
              <a:cs typeface="Ramabhadra"/>
              <a:sym typeface="Ramabhadra"/>
            </a:endParaRPr>
          </a:p>
        </p:txBody>
      </p:sp>
      <p:sp>
        <p:nvSpPr>
          <p:cNvPr id="77" name="Google Shape;77;p5"/>
          <p:cNvSpPr txBox="1"/>
          <p:nvPr/>
        </p:nvSpPr>
        <p:spPr>
          <a:xfrm>
            <a:off x="4877494" y="4025152"/>
            <a:ext cx="3042900" cy="44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000000"/>
                </a:solidFill>
                <a:latin typeface="Ramabhadra"/>
                <a:ea typeface="Ramabhadra"/>
                <a:cs typeface="Ramabhadra"/>
                <a:sym typeface="Ramabhadra"/>
              </a:rPr>
              <a:t>Tech Stack</a:t>
            </a:r>
            <a:endParaRPr sz="1275">
              <a:solidFill>
                <a:srgbClr val="000000"/>
              </a:solidFill>
              <a:latin typeface="Ramabhadra"/>
              <a:ea typeface="Ramabhadra"/>
              <a:cs typeface="Ramabhadra"/>
              <a:sym typeface="Ramabhadr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93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What technologies should we use?</a:t>
            </a:r>
            <a:endParaRPr sz="1093">
              <a:solidFill>
                <a:srgbClr val="0000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78" name="Google Shape;78;p5"/>
          <p:cNvSpPr txBox="1"/>
          <p:nvPr/>
        </p:nvSpPr>
        <p:spPr>
          <a:xfrm>
            <a:off x="4389320" y="4005347"/>
            <a:ext cx="488100" cy="4812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3275" lIns="83275" spcFirstLastPara="1" rIns="83275" wrap="square" tIns="83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77">
                <a:solidFill>
                  <a:srgbClr val="0F766E"/>
                </a:solidFill>
                <a:latin typeface="Ramabhadra"/>
                <a:ea typeface="Ramabhadra"/>
                <a:cs typeface="Ramabhadra"/>
                <a:sym typeface="Ramabhadra"/>
              </a:rPr>
              <a:t>10</a:t>
            </a:r>
            <a:endParaRPr b="1" sz="2277">
              <a:solidFill>
                <a:srgbClr val="0F766E"/>
              </a:solidFill>
              <a:latin typeface="Ramabhadra"/>
              <a:ea typeface="Ramabhadra"/>
              <a:cs typeface="Ramabhadra"/>
              <a:sym typeface="Ramabhadr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10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  ·  THE METHOD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24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A1F24"/>
                </a:solidFill>
                <a:latin typeface="Calibri"/>
                <a:ea typeface="Calibri"/>
                <a:cs typeface="Calibri"/>
                <a:sym typeface="Calibri"/>
              </a:rPr>
              <a:t>How we drove the AI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457200" y="1600200"/>
            <a:ext cx="3291840" cy="2651760"/>
          </a:xfrm>
          <a:prstGeom prst="rect">
            <a:avLst/>
          </a:prstGeom>
          <a:solidFill>
            <a:srgbClr val="1A1F24"/>
          </a:solidFill>
          <a:ln cap="flat" cmpd="sng" w="12700">
            <a:solidFill>
              <a:srgbClr val="1A1F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6"/>
          <p:cNvSpPr/>
          <p:nvPr/>
        </p:nvSpPr>
        <p:spPr>
          <a:xfrm>
            <a:off x="685800" y="1737360"/>
            <a:ext cx="2834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HARNESS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685800" y="2057400"/>
            <a:ext cx="297180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83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Tool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Gemini CLI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alibri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83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Gemini 2.5 Pr</a:t>
            </a:r>
            <a:r>
              <a:rPr lang="en-US" sz="12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alibri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83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Rationale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We prioritized reasoning depth, high-quality code generation, and consistency over raw processing speed.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4160520" y="1417310"/>
            <a:ext cx="411600" cy="411600"/>
          </a:xfrm>
          <a:prstGeom prst="ellipse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6"/>
          <p:cNvSpPr/>
          <p:nvPr/>
        </p:nvSpPr>
        <p:spPr>
          <a:xfrm>
            <a:off x="4160520" y="1417310"/>
            <a:ext cx="41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/>
          <p:nvPr/>
        </p:nvSpPr>
        <p:spPr>
          <a:xfrm>
            <a:off x="4709160" y="1325870"/>
            <a:ext cx="393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24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A1F24"/>
                </a:solidFill>
                <a:latin typeface="Calibri"/>
                <a:ea typeface="Calibri"/>
                <a:cs typeface="Calibri"/>
                <a:sym typeface="Calibri"/>
              </a:rPr>
              <a:t>Guardrails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6"/>
          <p:cNvSpPr/>
          <p:nvPr/>
        </p:nvSpPr>
        <p:spPr>
          <a:xfrm>
            <a:off x="4709223" y="1783072"/>
            <a:ext cx="393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Strict Quality Gate:</a:t>
            </a:r>
            <a:r>
              <a:rPr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 All tests and linters must pass</a:t>
            </a:r>
            <a:endParaRPr sz="1200">
              <a:solidFill>
                <a:srgbClr val="3645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Human Commits Only:</a:t>
            </a:r>
            <a:r>
              <a:rPr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 Don’t let AI modify Git</a:t>
            </a:r>
            <a:endParaRPr sz="1200">
              <a:solidFill>
                <a:srgbClr val="3645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AI-First:</a:t>
            </a:r>
            <a:r>
              <a:rPr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 Hand-edits only after 2+ AI failures</a:t>
            </a:r>
            <a:endParaRPr sz="1200">
              <a:solidFill>
                <a:srgbClr val="3645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200"/>
              <a:buFont typeface="Calibri"/>
              <a:buNone/>
            </a:pPr>
            <a:r>
              <a:t/>
            </a:r>
            <a:endParaRPr sz="1200">
              <a:solidFill>
                <a:srgbClr val="3645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4160520" y="2468878"/>
            <a:ext cx="411600" cy="411600"/>
          </a:xfrm>
          <a:prstGeom prst="ellipse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6"/>
          <p:cNvSpPr/>
          <p:nvPr/>
        </p:nvSpPr>
        <p:spPr>
          <a:xfrm>
            <a:off x="4160520" y="2468878"/>
            <a:ext cx="41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4709160" y="2377438"/>
            <a:ext cx="393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24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A1F24"/>
                </a:solidFill>
                <a:latin typeface="Calibri"/>
                <a:ea typeface="Calibri"/>
                <a:cs typeface="Calibri"/>
                <a:sym typeface="Calibri"/>
              </a:rPr>
              <a:t>Prompt strategy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4709235" y="2788903"/>
            <a:ext cx="393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Test-Driven:</a:t>
            </a:r>
            <a:r>
              <a:rPr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 Constrain AI using failed tests</a:t>
            </a:r>
            <a:endParaRPr sz="1200">
              <a:solidFill>
                <a:srgbClr val="3645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Targeted Context:</a:t>
            </a:r>
            <a:r>
              <a:rPr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 Quote 2-5 lines of research, not whole files</a:t>
            </a:r>
            <a:endParaRPr sz="1200">
              <a:solidFill>
                <a:srgbClr val="3645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Vertical Slices:</a:t>
            </a:r>
            <a:r>
              <a:rPr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 Prompt for one feature at a time</a:t>
            </a:r>
            <a:endParaRPr sz="1200">
              <a:solidFill>
                <a:srgbClr val="3645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200"/>
              <a:buFont typeface="Calibri"/>
              <a:buNone/>
            </a:pPr>
            <a:r>
              <a:t/>
            </a:r>
            <a:endParaRPr sz="1200">
              <a:solidFill>
                <a:srgbClr val="3645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4160520" y="3474720"/>
            <a:ext cx="411480" cy="411480"/>
          </a:xfrm>
          <a:prstGeom prst="ellipse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/>
          <p:nvPr/>
        </p:nvSpPr>
        <p:spPr>
          <a:xfrm>
            <a:off x="4160520" y="3474720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4709160" y="338328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24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A1F24"/>
                </a:solidFill>
                <a:latin typeface="Calibri"/>
                <a:ea typeface="Calibri"/>
                <a:cs typeface="Calibri"/>
                <a:sym typeface="Calibri"/>
              </a:rPr>
              <a:t>When we changed course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4709160" y="3760458"/>
            <a:ext cx="393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The AI couldn’t identify a stopped dev server and assumed something was broken, leading to it trying to fix nonexistent </a:t>
            </a:r>
            <a:r>
              <a:rPr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problems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1" name="Google Shape;101;p6"/>
          <p:cNvCxnSpPr/>
          <p:nvPr/>
        </p:nvCxnSpPr>
        <p:spPr>
          <a:xfrm>
            <a:off x="457200" y="473202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1E4E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" name="Google Shape;102;p6"/>
          <p:cNvSpPr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8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HARNESS  ·  GUARDRAILS  ·  PROMPT STRATEGY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8046720" y="477774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8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US" sz="900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4 </a:t>
            </a:r>
            <a:r>
              <a:rPr b="0" i="0" lang="en-US" sz="900" u="none" cap="none" strike="noStrike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/ 0</a:t>
            </a:r>
            <a:r>
              <a:rPr lang="en-US" sz="900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7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10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  ·  THE DATA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7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24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A1F24"/>
                </a:solidFill>
                <a:latin typeface="Calibri"/>
                <a:ea typeface="Calibri"/>
                <a:cs typeface="Calibri"/>
                <a:sym typeface="Calibri"/>
              </a:rPr>
              <a:t>Process &amp; prompt-log data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434340" y="1463040"/>
            <a:ext cx="1965960" cy="1280160"/>
          </a:xfrm>
          <a:prstGeom prst="rect">
            <a:avLst/>
          </a:prstGeom>
          <a:solidFill>
            <a:srgbClr val="F4F5F7"/>
          </a:solidFill>
          <a:ln cap="flat" cmpd="sng" w="9525">
            <a:solidFill>
              <a:srgbClr val="E1E4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7"/>
          <p:cNvSpPr/>
          <p:nvPr/>
        </p:nvSpPr>
        <p:spPr>
          <a:xfrm>
            <a:off x="480060" y="1600200"/>
            <a:ext cx="1874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7"/>
          <p:cNvSpPr/>
          <p:nvPr/>
        </p:nvSpPr>
        <p:spPr>
          <a:xfrm>
            <a:off x="434340" y="2331720"/>
            <a:ext cx="1965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prompts logged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2537460" y="1463040"/>
            <a:ext cx="1965960" cy="1280160"/>
          </a:xfrm>
          <a:prstGeom prst="rect">
            <a:avLst/>
          </a:prstGeom>
          <a:solidFill>
            <a:srgbClr val="F4F5F7"/>
          </a:solidFill>
          <a:ln cap="flat" cmpd="sng" w="9525">
            <a:solidFill>
              <a:srgbClr val="E1E4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7"/>
          <p:cNvSpPr/>
          <p:nvPr/>
        </p:nvSpPr>
        <p:spPr>
          <a:xfrm>
            <a:off x="2583180" y="1600200"/>
            <a:ext cx="1874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2537460" y="2331720"/>
            <a:ext cx="1965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hand-edits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4640580" y="1463040"/>
            <a:ext cx="1965960" cy="1280160"/>
          </a:xfrm>
          <a:prstGeom prst="rect">
            <a:avLst/>
          </a:prstGeom>
          <a:solidFill>
            <a:srgbClr val="F4F5F7"/>
          </a:solidFill>
          <a:ln cap="flat" cmpd="sng" w="9525">
            <a:solidFill>
              <a:srgbClr val="E1E4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7"/>
          <p:cNvSpPr/>
          <p:nvPr/>
        </p:nvSpPr>
        <p:spPr>
          <a:xfrm>
            <a:off x="4686300" y="1600200"/>
            <a:ext cx="1874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5%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4640580" y="2331720"/>
            <a:ext cx="1965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first-try success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6743700" y="1463040"/>
            <a:ext cx="1965960" cy="1280160"/>
          </a:xfrm>
          <a:prstGeom prst="rect">
            <a:avLst/>
          </a:prstGeom>
          <a:solidFill>
            <a:srgbClr val="F4F5F7"/>
          </a:solidFill>
          <a:ln cap="flat" cmpd="sng" w="9525">
            <a:solidFill>
              <a:srgbClr val="E1E4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7"/>
          <p:cNvSpPr/>
          <p:nvPr/>
        </p:nvSpPr>
        <p:spPr>
          <a:xfrm>
            <a:off x="6789420" y="1600200"/>
            <a:ext cx="1874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85+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6743700" y="2331720"/>
            <a:ext cx="1965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commits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457200" y="3017520"/>
            <a:ext cx="4069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WHAT WE MEASURED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7"/>
          <p:cNvSpPr/>
          <p:nvPr/>
        </p:nvSpPr>
        <p:spPr>
          <a:xfrm>
            <a:off x="457200" y="3337560"/>
            <a:ext cx="40690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3655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36454F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log spans initial scaffolding (Entry 1), extensive theming/UI refinement (Entries 2-9), and a heavy focus on debugging/fixing animation and alignment logic (Entries 11-22).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36454F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Integration of interactive UI with existing JavaScript logic (Entries 10-12) caused a complete regression of the "Spin" functionality, requiring three corrective prompts to restore.</a:t>
            </a:r>
            <a:endParaRPr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7"/>
          <p:cNvSpPr/>
          <p:nvPr/>
        </p:nvSpPr>
        <p:spPr>
          <a:xfrm>
            <a:off x="4709160" y="3017520"/>
            <a:ext cx="4069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WHAT WE OBSERVED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7"/>
          <p:cNvSpPr/>
          <p:nvPr/>
        </p:nvSpPr>
        <p:spPr>
          <a:xfrm>
            <a:off x="4709160" y="3337560"/>
            <a:ext cx="406908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3655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agent excelled at rapid CSS generation for complex themes and quickly scaffolding accessible HTML structures.</a:t>
            </a:r>
            <a:endParaRPr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3429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significant "loop" occurred between iteration 12 and 20.</a:t>
            </a:r>
            <a:endParaRPr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3429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Vague aesthetic prompts (Entry 2) required immediate follow-up. </a:t>
            </a:r>
            <a:endParaRPr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7" name="Google Shape;127;p7"/>
          <p:cNvCxnSpPr/>
          <p:nvPr/>
        </p:nvCxnSpPr>
        <p:spPr>
          <a:xfrm>
            <a:off x="457200" y="473202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1E4E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8" name="Google Shape;128;p7"/>
          <p:cNvSpPr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8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NUMBERS COME FROM AI-USE-LOG.MD  ·  MIN. 20 ENTRIES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7"/>
          <p:cNvSpPr/>
          <p:nvPr/>
        </p:nvSpPr>
        <p:spPr>
          <a:xfrm>
            <a:off x="8046720" y="477774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8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US" sz="900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b="0" i="0" lang="en-US" sz="900" u="none" cap="none" strike="noStrike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 /</a:t>
            </a:r>
            <a:r>
              <a:rPr lang="en-US" sz="900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 07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8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10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  ·  THE FINDINGS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8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24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1A1F24"/>
                </a:solidFill>
                <a:latin typeface="Calibri"/>
                <a:ea typeface="Calibri"/>
                <a:cs typeface="Calibri"/>
                <a:sym typeface="Calibri"/>
              </a:rPr>
              <a:t>What broke  ·  what surprised us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8"/>
          <p:cNvSpPr/>
          <p:nvPr/>
        </p:nvSpPr>
        <p:spPr>
          <a:xfrm>
            <a:off x="457200" y="1600200"/>
            <a:ext cx="4069080" cy="2743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E4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8"/>
          <p:cNvSpPr/>
          <p:nvPr/>
        </p:nvSpPr>
        <p:spPr>
          <a:xfrm>
            <a:off x="457200" y="1600200"/>
            <a:ext cx="4069080" cy="457200"/>
          </a:xfrm>
          <a:prstGeom prst="rect">
            <a:avLst/>
          </a:prstGeom>
          <a:solidFill>
            <a:srgbClr val="1A1F24"/>
          </a:solidFill>
          <a:ln cap="flat" cmpd="sng" w="12700">
            <a:solidFill>
              <a:srgbClr val="1A1F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8"/>
          <p:cNvSpPr/>
          <p:nvPr/>
        </p:nvSpPr>
        <p:spPr>
          <a:xfrm>
            <a:off x="685800" y="1600200"/>
            <a:ext cx="3611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WHAT BROKE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8"/>
          <p:cNvSpPr/>
          <p:nvPr/>
        </p:nvSpPr>
        <p:spPr>
          <a:xfrm>
            <a:off x="685800" y="2194560"/>
            <a:ext cx="361188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Spin flow broke after first spin → UI updated but animation stopped, making the game look frozen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36454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Reel landing animation had snapping issues and misaligned final 3x3 grid state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36454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Dropdown menus initially opened and could not be closed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36454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Early versions broke layout → grid collapsed into a single row</a:t>
            </a:r>
            <a:endParaRPr sz="1200">
              <a:solidFill>
                <a:srgbClr val="3645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36454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Balance state bug caused incorrect updates and “infinite spin” behavior</a:t>
            </a:r>
            <a:endParaRPr sz="1200">
              <a:solidFill>
                <a:srgbClr val="3645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645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8"/>
          <p:cNvSpPr/>
          <p:nvPr/>
        </p:nvSpPr>
        <p:spPr>
          <a:xfrm>
            <a:off x="4709160" y="1600200"/>
            <a:ext cx="4069080" cy="2743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1E4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8"/>
          <p:cNvSpPr/>
          <p:nvPr/>
        </p:nvSpPr>
        <p:spPr>
          <a:xfrm>
            <a:off x="4709160" y="1600200"/>
            <a:ext cx="4069080" cy="45720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"/>
          <p:cNvSpPr/>
          <p:nvPr/>
        </p:nvSpPr>
        <p:spPr>
          <a:xfrm>
            <a:off x="4937760" y="1600200"/>
            <a:ext cx="3611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WHAT SURPRISED US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4937760" y="2194560"/>
            <a:ext cx="361188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04800" lvl="0" marL="342900" rtl="0" algn="l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UI bugs were harder to detect because logic still worked while visuals broke</a:t>
            </a:r>
            <a:endParaRPr sz="1200">
              <a:solidFill>
                <a:srgbClr val="3645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6454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Animation state and game state desynced more easily than expected</a:t>
            </a:r>
            <a:endParaRPr sz="1200">
              <a:solidFill>
                <a:srgbClr val="3645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36454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AI required very specific prompts to maintain consistent theme and structure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36454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36454F"/>
                </a:solidFill>
                <a:latin typeface="Calibri"/>
                <a:ea typeface="Calibri"/>
                <a:cs typeface="Calibri"/>
                <a:sym typeface="Calibri"/>
              </a:rPr>
              <a:t>The same feature could look correct in code but feel broken in user experience</a:t>
            </a:r>
            <a:endParaRPr sz="1200">
              <a:solidFill>
                <a:srgbClr val="3645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5" name="Google Shape;145;p8"/>
          <p:cNvCxnSpPr/>
          <p:nvPr/>
        </p:nvCxnSpPr>
        <p:spPr>
          <a:xfrm>
            <a:off x="457200" y="473202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1E4E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" name="Google Shape;146;p8"/>
          <p:cNvSpPr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8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WE OBSERVED  ·  WE DID NOT FORCE AN ANSWER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8"/>
          <p:cNvSpPr/>
          <p:nvPr/>
        </p:nvSpPr>
        <p:spPr>
          <a:xfrm>
            <a:off x="8046720" y="477774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8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US" sz="900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6 </a:t>
            </a:r>
            <a:r>
              <a:rPr b="0" i="0" lang="en-US" sz="900" u="none" cap="none" strike="noStrike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/ 0</a:t>
            </a:r>
            <a:r>
              <a:rPr lang="en-US" sz="900">
                <a:solidFill>
                  <a:srgbClr val="6B7683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F24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100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  ·  THE VERDICT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9"/>
          <p:cNvSpPr/>
          <p:nvPr/>
        </p:nvSpPr>
        <p:spPr>
          <a:xfrm>
            <a:off x="548640" y="77724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Will we use AI going forward?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9"/>
          <p:cNvSpPr/>
          <p:nvPr/>
        </p:nvSpPr>
        <p:spPr>
          <a:xfrm>
            <a:off x="548640" y="1600200"/>
            <a:ext cx="8046720" cy="109728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"/>
          <p:cNvSpPr/>
          <p:nvPr/>
        </p:nvSpPr>
        <p:spPr>
          <a:xfrm>
            <a:off x="822960" y="1600200"/>
            <a:ext cx="74980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2000"/>
              <a:buFont typeface="Calibri"/>
              <a:buNone/>
            </a:pPr>
            <a:r>
              <a:rPr b="1" i="1" lang="en-US" sz="20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Yes but scoped to building incrementally with lots of oversight and specification in our prompts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9"/>
          <p:cNvSpPr/>
          <p:nvPr/>
        </p:nvSpPr>
        <p:spPr>
          <a:xfrm>
            <a:off x="548640" y="2926080"/>
            <a:ext cx="2606040" cy="1417320"/>
          </a:xfrm>
          <a:prstGeom prst="rect">
            <a:avLst/>
          </a:prstGeom>
          <a:solidFill>
            <a:srgbClr val="242B32"/>
          </a:solidFill>
          <a:ln cap="flat" cmpd="sng" w="9525">
            <a:solidFill>
              <a:srgbClr val="2F3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9"/>
          <p:cNvSpPr/>
          <p:nvPr/>
        </p:nvSpPr>
        <p:spPr>
          <a:xfrm>
            <a:off x="548640" y="2926080"/>
            <a:ext cx="2606040" cy="457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9"/>
          <p:cNvSpPr/>
          <p:nvPr/>
        </p:nvSpPr>
        <p:spPr>
          <a:xfrm>
            <a:off x="731520" y="3108960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WE WILL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9"/>
          <p:cNvSpPr/>
          <p:nvPr/>
        </p:nvSpPr>
        <p:spPr>
          <a:xfrm>
            <a:off x="731520" y="3200400"/>
            <a:ext cx="22404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rgbClr val="F6F7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Rigorously</a:t>
            </a:r>
            <a:r>
              <a:rPr lang="en-US" sz="12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 test and document our code ensuring that we understand what the AI built and why it built it. Abide to a systematic </a:t>
            </a:r>
            <a:r>
              <a:rPr lang="en-US" sz="12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system when using AI.</a:t>
            </a:r>
            <a:endParaRPr sz="1200">
              <a:solidFill>
                <a:srgbClr val="F6F7F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9"/>
          <p:cNvSpPr/>
          <p:nvPr/>
        </p:nvSpPr>
        <p:spPr>
          <a:xfrm>
            <a:off x="3291840" y="2926080"/>
            <a:ext cx="2606040" cy="1417320"/>
          </a:xfrm>
          <a:prstGeom prst="rect">
            <a:avLst/>
          </a:prstGeom>
          <a:solidFill>
            <a:srgbClr val="242B32"/>
          </a:solidFill>
          <a:ln cap="flat" cmpd="sng" w="9525">
            <a:solidFill>
              <a:srgbClr val="2F3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9"/>
          <p:cNvSpPr/>
          <p:nvPr/>
        </p:nvSpPr>
        <p:spPr>
          <a:xfrm>
            <a:off x="3291840" y="2926080"/>
            <a:ext cx="2606040" cy="457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9"/>
          <p:cNvSpPr/>
          <p:nvPr/>
        </p:nvSpPr>
        <p:spPr>
          <a:xfrm>
            <a:off x="3474720" y="3108960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WE WILL NOT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3474720" y="3429000"/>
            <a:ext cx="22402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rgbClr val="F6F7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Unsupervised prompting where we continue to iterate on unchecked AI code</a:t>
            </a:r>
            <a:endParaRPr sz="1200">
              <a:solidFill>
                <a:srgbClr val="F6F7F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9"/>
          <p:cNvSpPr/>
          <p:nvPr/>
        </p:nvSpPr>
        <p:spPr>
          <a:xfrm>
            <a:off x="6035040" y="2926080"/>
            <a:ext cx="2606040" cy="1417320"/>
          </a:xfrm>
          <a:prstGeom prst="rect">
            <a:avLst/>
          </a:prstGeom>
          <a:solidFill>
            <a:srgbClr val="242B32"/>
          </a:solidFill>
          <a:ln cap="flat" cmpd="sng" w="9525">
            <a:solidFill>
              <a:srgbClr val="2F3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9"/>
          <p:cNvSpPr/>
          <p:nvPr/>
        </p:nvSpPr>
        <p:spPr>
          <a:xfrm>
            <a:off x="6035040" y="2926080"/>
            <a:ext cx="2606040" cy="457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9"/>
          <p:cNvSpPr/>
          <p:nvPr/>
        </p:nvSpPr>
        <p:spPr>
          <a:xfrm>
            <a:off x="6217920" y="3108960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OPEN QUESTION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6217795" y="3428963"/>
            <a:ext cx="22404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While AI may speed up coding but it will actually speed up our process of engineering?</a:t>
            </a:r>
            <a:endParaRPr sz="1200">
              <a:solidFill>
                <a:srgbClr val="F6F7F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9"/>
          <p:cNvSpPr/>
          <p:nvPr/>
        </p:nvSpPr>
        <p:spPr>
          <a:xfrm>
            <a:off x="8046720" y="477774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6F7F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US" sz="9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b="0" i="0" lang="en-US" sz="900" u="none" cap="none" strike="noStrike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 / 0</a:t>
            </a:r>
            <a:r>
              <a:rPr lang="en-US" sz="900">
                <a:solidFill>
                  <a:srgbClr val="F6F7F9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