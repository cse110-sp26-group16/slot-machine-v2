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Ramabhadra"/>
      <p:regular r:id="rId12"/>
    </p:embeddedFont>
    <p:embeddedFont>
      <p:font typeface="Work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WorkSans-regular.fntdata"/><Relationship Id="rId12" Type="http://schemas.openxmlformats.org/officeDocument/2006/relationships/font" Target="fonts/Ramabhadr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WorkSans-italic.fntdata"/><Relationship Id="rId14" Type="http://schemas.openxmlformats.org/officeDocument/2006/relationships/font" Target="fonts/WorkSans-bold.fntdata"/><Relationship Id="rId16" Type="http://schemas.openxmlformats.org/officeDocument/2006/relationships/font" Target="fonts/Work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8b550cf1d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d8b550cf1d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8b550cf1d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We saw a few key UI failures during development.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biggest issue was that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spin animation worked once, then stopped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even though game logic still ran correctly. We also had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reel alignment issues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where the final grid didn’t settle cleanly. Some UI controls like dropdowns also broke and couldn’t be closed, and early versions even collapsed the layout into a single row with incorrect balance behavior.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What surprised us was that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the logic often worked while the UI looked broken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which made debugging harder. We also learned that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AI needed very precise prompts to maintain consistent UI behavior and theme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Overall, we learned that small visual issues can strongly affect how “correct” the game feels.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 — Slide 6 (~45s, the close):</a:t>
            </a:r>
            <a:br>
              <a:rPr lang="en-US"/>
            </a:br>
            <a:br>
              <a:rPr lang="en-US"/>
            </a:br>
            <a:r>
              <a:rPr lang="en-US"/>
              <a:t>&lt;TODO: State the verdict plainly, then the three rules, then stop.&gt;</a:t>
            </a:r>
            <a:br>
              <a:rPr lang="en-US"/>
            </a:br>
            <a:r>
              <a:rPr lang="en-US"/>
              <a:t>- Verdict: "Our answer is &lt;TODO: one sentence&gt;. We're not claiming this generalizes — it's what our data showed for this project."</a:t>
            </a:r>
            <a:br>
              <a:rPr lang="en-US"/>
            </a:br>
            <a:r>
              <a:rPr lang="en-US"/>
              <a:t>- WE WILL: "&lt;TODO: specific practice we're keeping&gt;."</a:t>
            </a:r>
            <a:br>
              <a:rPr lang="en-US"/>
            </a:br>
            <a:r>
              <a:rPr lang="en-US"/>
              <a:t>- WE WILL NOT: "&lt;TODO: specific practice we're dropping&gt;."</a:t>
            </a:r>
            <a:br>
              <a:rPr lang="en-US"/>
            </a:br>
            <a:r>
              <a:rPr lang="en-US"/>
              <a:t>- OPEN QUESTION: "&lt;TODO: what we'd test next&gt;."</a:t>
            </a:r>
            <a:br>
              <a:rPr lang="en-US"/>
            </a:br>
            <a:r>
              <a:rPr lang="en-US"/>
              <a:t>- Close: "That's our experiment. Thanks." (no separate Thank-You slide — end on the verdict).</a:t>
            </a:r>
            <a:br>
              <a:rPr lang="en-US"/>
            </a:br>
            <a:br>
              <a:rPr lang="en-US"/>
            </a:br>
            <a:r>
              <a:rPr lang="en-US"/>
              <a:t>Time check: end of video ~4:00. If you're over, cut an adjective, not a point.</a:t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CSE 110  ·  TECH WARMUP II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Generative AI as an Engineering Tool?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0C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B8C0CC"/>
                </a:solidFill>
                <a:latin typeface="Calibri"/>
                <a:ea typeface="Calibri"/>
                <a:cs typeface="Calibri"/>
                <a:sym typeface="Calibri"/>
              </a:rPr>
              <a:t>An experiment in rebuilding the slot machine under software-engineering discipline.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548640" y="288036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548640" y="3063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3375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1" i="0" lang="en-US" sz="18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 16 — </a:t>
            </a:r>
            <a:r>
              <a:rPr b="1" lang="en-US" sz="18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Cutie Devs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754880" y="3063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ROSTER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754875" y="3237825"/>
            <a:ext cx="1188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Angelo Sespene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Yuval Pesok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Jordan Junaidi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Jennifer Zhu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Fariba Tokhi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Koji Nakazawa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01 /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5983325" y="3337550"/>
            <a:ext cx="15795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Alec Lichtenberger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Harvey Zhang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Roy Martinez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  ·  THE EXPERIMENT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F24"/>
                </a:solidFill>
                <a:latin typeface="Calibri"/>
                <a:ea typeface="Calibri"/>
                <a:cs typeface="Calibri"/>
                <a:sym typeface="Calibri"/>
              </a:rPr>
              <a:t>What we set out to build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1600200"/>
            <a:ext cx="2697480" cy="2651760"/>
          </a:xfrm>
          <a:prstGeom prst="rect">
            <a:avLst/>
          </a:prstGeom>
          <a:solidFill>
            <a:srgbClr val="F4F5F7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1600200"/>
            <a:ext cx="73152" cy="2651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85800" y="1783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5800" y="2148840"/>
            <a:ext cx="23317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A browser-based slot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machine, rebuilt to meet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SWE discipline: linting,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JSDoc, unit + E2E tests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91840" y="1600200"/>
            <a:ext cx="2697480" cy="2651760"/>
          </a:xfrm>
          <a:prstGeom prst="rect">
            <a:avLst/>
          </a:prstGeom>
          <a:solidFill>
            <a:srgbClr val="F4F5F7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91840" y="1600200"/>
            <a:ext cx="73152" cy="2651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520440" y="1783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520440" y="2148840"/>
            <a:ext cx="23317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20+ d</a:t>
            </a:r>
            <a:r>
              <a:rPr b="0" i="0" lang="en-US" sz="13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omain sources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b="0" i="0" lang="en-US" sz="13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research docs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126480" y="1600200"/>
            <a:ext cx="2697480" cy="2651760"/>
          </a:xfrm>
          <a:prstGeom prst="rect">
            <a:avLst/>
          </a:prstGeom>
          <a:solidFill>
            <a:srgbClr val="F4F5F7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126480" y="1600200"/>
            <a:ext cx="73152" cy="2651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355080" y="1783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355080" y="2148840"/>
            <a:ext cx="23317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3 persona documents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The casual thrill-seeker, the themed-experience player, the social sharer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5 user stories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4"/>
          <p:cNvCxnSpPr/>
          <p:nvPr/>
        </p:nvCxnSpPr>
        <p:spPr>
          <a:xfrm>
            <a:off x="457200" y="473202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SCOPE  ·  RESEARCH  ·  USER-CENTERED THINKING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02 / 0</a:t>
            </a:r>
            <a:r>
              <a:rPr lang="en-US" sz="900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457200" y="320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·  THE </a:t>
            </a: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5441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4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A1F24"/>
                </a:solidFill>
                <a:latin typeface="Calibri"/>
                <a:ea typeface="Calibri"/>
                <a:cs typeface="Calibri"/>
                <a:sym typeface="Calibri"/>
              </a:rPr>
              <a:t>What we Researched First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457200" y="4744452"/>
            <a:ext cx="7857000" cy="0"/>
          </a:xfrm>
          <a:prstGeom prst="straightConnector1">
            <a:avLst/>
          </a:prstGeom>
          <a:noFill/>
          <a:ln cap="flat" cmpd="sng" w="910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5"/>
          <p:cNvSpPr/>
          <p:nvPr/>
        </p:nvSpPr>
        <p:spPr>
          <a:xfrm>
            <a:off x="457200" y="4788102"/>
            <a:ext cx="52380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859"/>
              <a:buFont typeface="Calibri"/>
              <a:buNone/>
            </a:pPr>
            <a:r>
              <a:rPr b="0" i="0" lang="en-US" sz="859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SCOPE  ·  RESEARCH  ·  USER-CENTERED THINKING</a:t>
            </a:r>
            <a:endParaRPr b="0" i="0" sz="8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703119" y="4788102"/>
            <a:ext cx="785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859"/>
              <a:buFont typeface="Calibri"/>
              <a:buNone/>
            </a:pPr>
            <a:r>
              <a:rPr lang="en-US" sz="859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859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 / 0</a:t>
            </a:r>
            <a:r>
              <a:rPr lang="en-US" sz="859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1047874" y="1299905"/>
            <a:ext cx="26106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Slot Machine Mechanics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slot machines work: RNGs, paylines, RTP, volatility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559700" y="1280101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1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047874" y="1981200"/>
            <a:ext cx="25182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Visual Themes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Why visual design matters: central reels, symbols, large controls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559700" y="1961394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2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1047874" y="2662494"/>
            <a:ext cx="28077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Sound Design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audio influences players: preventing fatigue, audio cues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559700" y="2642688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3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047874" y="3343787"/>
            <a:ext cx="26106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Animation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animations guide players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559700" y="3323981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4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047874" y="4005275"/>
            <a:ext cx="30429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Wireframes and UI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to structure the interface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559700" y="4005275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5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4877494" y="1299977"/>
            <a:ext cx="26106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User Persona Research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Who plays slot machines?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4389320" y="1280172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6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4877494" y="2045572"/>
            <a:ext cx="29433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Accessibility Considerations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to ensure accessibility: reduced motion, clear feedback, high contrast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4389320" y="1961466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7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4877494" y="2662565"/>
            <a:ext cx="30063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Competitor Analysis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competitors engage players: flashy effects, early wins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4389320" y="2642759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8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4877494" y="3343859"/>
            <a:ext cx="29433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Edge Cases &amp; Error States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to ensure system stability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4389320" y="3324053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9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4877494" y="4025152"/>
            <a:ext cx="30429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Ramabhadra"/>
                <a:ea typeface="Ramabhadra"/>
                <a:cs typeface="Ramabhadra"/>
                <a:sym typeface="Ramabhadra"/>
              </a:rPr>
              <a:t>Tech Stack</a:t>
            </a:r>
            <a:endParaRPr sz="1275">
              <a:solidFill>
                <a:srgbClr val="000000"/>
              </a:solidFill>
              <a:latin typeface="Ramabhadra"/>
              <a:ea typeface="Ramabhadra"/>
              <a:cs typeface="Ramabhadra"/>
              <a:sym typeface="Ramabhad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What technologies should we use?</a:t>
            </a:r>
            <a:endParaRPr sz="1093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4389320" y="4005347"/>
            <a:ext cx="488100" cy="48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75" lIns="83275" spcFirstLastPara="1" rIns="83275" wrap="square" tIns="8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7">
                <a:solidFill>
                  <a:srgbClr val="0F766E"/>
                </a:solidFill>
                <a:latin typeface="Ramabhadra"/>
                <a:ea typeface="Ramabhadra"/>
                <a:cs typeface="Ramabhadra"/>
                <a:sym typeface="Ramabhadra"/>
              </a:rPr>
              <a:t>10</a:t>
            </a:r>
            <a:endParaRPr b="1" sz="2277">
              <a:solidFill>
                <a:srgbClr val="0F766E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·  THE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F24"/>
                </a:solidFill>
                <a:latin typeface="Calibri"/>
                <a:ea typeface="Calibri"/>
                <a:cs typeface="Calibri"/>
                <a:sym typeface="Calibri"/>
              </a:rPr>
              <a:t>How we drove the AI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1600200"/>
            <a:ext cx="3291840" cy="2651760"/>
          </a:xfrm>
          <a:prstGeom prst="rect">
            <a:avLst/>
          </a:prstGeom>
          <a:solidFill>
            <a:srgbClr val="1A1F24"/>
          </a:solidFill>
          <a:ln cap="flat" cmpd="sng" w="12700">
            <a:solidFill>
              <a:srgbClr val="1A1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85800" y="1737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HARNESS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85800" y="205740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Gemini CLI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Gemini 2.5 Pr</a:t>
            </a: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Rationale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We prioritized reasoning depth, high-quality code generation, and consistency over raw processing speed.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160520" y="1417310"/>
            <a:ext cx="411600" cy="411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160520" y="141731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709160" y="132587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F24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709223" y="1783072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Strict Quality Gate:</a:t>
            </a: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 All tests and linters must pass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Human Commits Only:</a:t>
            </a: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 Don’t let AI modify Git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AI-First:</a:t>
            </a: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 Hand-edits only after 2+ AI failures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160520" y="2468878"/>
            <a:ext cx="411600" cy="411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160520" y="246887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709160" y="2377438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F24"/>
                </a:solidFill>
                <a:latin typeface="Calibri"/>
                <a:ea typeface="Calibri"/>
                <a:cs typeface="Calibri"/>
                <a:sym typeface="Calibri"/>
              </a:rPr>
              <a:t>Prompt strategy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709235" y="2788903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Test-Driven:</a:t>
            </a: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 Constrain AI using failed tests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Targeted Context:</a:t>
            </a: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 Quote 2-5 lines of research, not whole files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Vertical Slices:</a:t>
            </a: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 Prompt for one feature at a time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160520" y="3474720"/>
            <a:ext cx="411480" cy="4114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160520" y="3474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709160" y="33832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F24"/>
                </a:solidFill>
                <a:latin typeface="Calibri"/>
                <a:ea typeface="Calibri"/>
                <a:cs typeface="Calibri"/>
                <a:sym typeface="Calibri"/>
              </a:rPr>
              <a:t>When we changed course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709160" y="3760458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The AI couldn’t identify a stopped dev server and assumed something was broken, leading to it trying to fix nonexistent </a:t>
            </a: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problems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457200" y="473202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HARNESS  ·  GUARDRAILS  ·  PROMPT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/ 0</a:t>
            </a:r>
            <a:r>
              <a:rPr lang="en-US" sz="900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·  THE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F24"/>
                </a:solidFill>
                <a:latin typeface="Calibri"/>
                <a:ea typeface="Calibri"/>
                <a:cs typeface="Calibri"/>
                <a:sym typeface="Calibri"/>
              </a:rPr>
              <a:t>Process &amp; prompt-log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34340" y="1463040"/>
            <a:ext cx="1965960" cy="1280160"/>
          </a:xfrm>
          <a:prstGeom prst="rect">
            <a:avLst/>
          </a:prstGeom>
          <a:solidFill>
            <a:srgbClr val="F4F5F7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480060" y="160020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34340" y="2331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prompts logged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537460" y="1463040"/>
            <a:ext cx="1965960" cy="1280160"/>
          </a:xfrm>
          <a:prstGeom prst="rect">
            <a:avLst/>
          </a:prstGeom>
          <a:solidFill>
            <a:srgbClr val="F4F5F7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2583180" y="160020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537460" y="2331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hand-edits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640580" y="1463040"/>
            <a:ext cx="1965960" cy="1280160"/>
          </a:xfrm>
          <a:prstGeom prst="rect">
            <a:avLst/>
          </a:prstGeom>
          <a:solidFill>
            <a:srgbClr val="F4F5F7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686300" y="160020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640580" y="2331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first-try success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743700" y="1463040"/>
            <a:ext cx="1965960" cy="1280160"/>
          </a:xfrm>
          <a:prstGeom prst="rect">
            <a:avLst/>
          </a:prstGeom>
          <a:solidFill>
            <a:srgbClr val="F4F5F7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789420" y="160020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85+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743700" y="23317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commits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301752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WHAT WE MEASURED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3337560"/>
            <a:ext cx="4069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log spans initial scaffolding (Entry 1), extensive theming/UI refinement (Entries 2-9), and a heavy focus on debugging/fixing animation and alignment logic (Entries 11-22).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6454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of interactive UI with existing JavaScript logic (Entries 10-12) caused a complete regression of the "Spin" functionality, requiring three corrective prompts to restore.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709160" y="301752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WHAT WE OBSERVED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709160" y="3337560"/>
            <a:ext cx="4069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agent excelled at rapid CSS generation for complex themes and quickly scaffolding accessible HTML structures.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significant "loop" occurred between iteration 12 and 20.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Vague aesthetic prompts (Entry 2) required immediate follow-up. 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>
            <a:off x="457200" y="473202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NUMBERS COME FROM AI-USE-LOG.MD  ·  MIN. 20 ENTRIES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 /</a:t>
            </a:r>
            <a:r>
              <a:rPr lang="en-US" sz="900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 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·  THE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F24"/>
                </a:solidFill>
                <a:latin typeface="Calibri"/>
                <a:ea typeface="Calibri"/>
                <a:cs typeface="Calibri"/>
                <a:sym typeface="Calibri"/>
              </a:rPr>
              <a:t>What broke  ·  what surprised us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1600200"/>
            <a:ext cx="406908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57200" y="1600200"/>
            <a:ext cx="4069080" cy="457200"/>
          </a:xfrm>
          <a:prstGeom prst="rect">
            <a:avLst/>
          </a:prstGeom>
          <a:solidFill>
            <a:srgbClr val="1A1F24"/>
          </a:solidFill>
          <a:ln cap="flat" cmpd="sng" w="12700">
            <a:solidFill>
              <a:srgbClr val="1A1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85800" y="16002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WHAT BROKE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85800" y="2194560"/>
            <a:ext cx="36118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Spin flow broke after first spin → UI updated but animation stopped, making the game look frozen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Reel landing animation had snapping issues and misaligned final 3x3 grid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Dropdown menus initially opened and could not be closed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Early versions broke layout → grid collapsed into a single row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Balance state bug caused incorrect updates and “infinite spin” behavior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709160" y="1600200"/>
            <a:ext cx="406908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709160" y="1600200"/>
            <a:ext cx="4069080" cy="4572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937760" y="16002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WHAT SURPRISED 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937760" y="2194560"/>
            <a:ext cx="36118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UI bugs were harder to detect because logic still worked while visuals broke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Animation state and game state desynced more easily than expected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AI required very specific prompts to maintain consistent theme and 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6454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6454F"/>
                </a:solidFill>
                <a:latin typeface="Calibri"/>
                <a:ea typeface="Calibri"/>
                <a:cs typeface="Calibri"/>
                <a:sym typeface="Calibri"/>
              </a:rPr>
              <a:t>The same feature could look correct in code but feel broken in user experience</a:t>
            </a:r>
            <a:endParaRPr sz="1200">
              <a:solidFill>
                <a:srgbClr val="3645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8"/>
          <p:cNvCxnSpPr/>
          <p:nvPr/>
        </p:nvCxnSpPr>
        <p:spPr>
          <a:xfrm>
            <a:off x="457200" y="473202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WE OBSERVED  ·  WE DID NOT FORCE AN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b="0" i="0" lang="en-US" sz="900" u="none" cap="none" strike="noStrike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/ 0</a:t>
            </a:r>
            <a:r>
              <a:rPr lang="en-US" sz="900">
                <a:solidFill>
                  <a:srgbClr val="6B768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24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·  THE VERDICT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Will we use AI going forward?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48640" y="1600200"/>
            <a:ext cx="8046720" cy="109728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822960" y="1600200"/>
            <a:ext cx="7498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2000"/>
              <a:buFont typeface="Calibri"/>
              <a:buNone/>
            </a:pPr>
            <a:r>
              <a:rPr b="1" i="1" lang="en-US" sz="20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Yes but scoped to building incrementally with lots of oversight and specification in our prompts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48640" y="2926080"/>
            <a:ext cx="2606040" cy="1417320"/>
          </a:xfrm>
          <a:prstGeom prst="rect">
            <a:avLst/>
          </a:prstGeom>
          <a:solidFill>
            <a:srgbClr val="242B32"/>
          </a:solidFill>
          <a:ln cap="flat" cmpd="sng" w="9525">
            <a:solidFill>
              <a:srgbClr val="2F3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48640" y="2926080"/>
            <a:ext cx="260604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731520" y="31089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WE WILL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31520" y="3200400"/>
            <a:ext cx="224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Rigorously</a:t>
            </a: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 test and document our code ensuring that we understand what the AI built and why it built it. Abide to a systematic </a:t>
            </a: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system when using AI.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291840" y="2926080"/>
            <a:ext cx="2606040" cy="1417320"/>
          </a:xfrm>
          <a:prstGeom prst="rect">
            <a:avLst/>
          </a:prstGeom>
          <a:solidFill>
            <a:srgbClr val="242B32"/>
          </a:solidFill>
          <a:ln cap="flat" cmpd="sng" w="9525">
            <a:solidFill>
              <a:srgbClr val="2F3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3291840" y="2926080"/>
            <a:ext cx="260604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3474720" y="31089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WE WILL NOT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474720" y="342900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Unsupervised prompting where we continue to iterate on unchecked AI code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035040" y="2926080"/>
            <a:ext cx="2606040" cy="1417320"/>
          </a:xfrm>
          <a:prstGeom prst="rect">
            <a:avLst/>
          </a:prstGeom>
          <a:solidFill>
            <a:srgbClr val="242B32"/>
          </a:solidFill>
          <a:ln cap="flat" cmpd="sng" w="9525">
            <a:solidFill>
              <a:srgbClr val="2F3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6035040" y="2926080"/>
            <a:ext cx="260604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6217920" y="31089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OPEN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217795" y="3428963"/>
            <a:ext cx="224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While AI may speed up coding but it will actually speed up our process of engineering?</a:t>
            </a:r>
            <a:endParaRPr sz="1200">
              <a:solidFill>
                <a:srgbClr val="F6F7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046720" y="47777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6F7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900" u="none" cap="none" strike="noStrike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 / 0</a:t>
            </a:r>
            <a:r>
              <a:rPr lang="en-US" sz="900">
                <a:solidFill>
                  <a:srgbClr val="F6F7F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